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1F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/>
    <p:restoredTop sz="94643"/>
  </p:normalViewPr>
  <p:slideViewPr>
    <p:cSldViewPr snapToGrid="0">
      <p:cViewPr>
        <p:scale>
          <a:sx n="135" d="100"/>
          <a:sy n="135" d="100"/>
        </p:scale>
        <p:origin x="144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E78DE-6B7D-0542-8626-BFE2A1CC06F8}" type="datetimeFigureOut">
              <a:t>2026. 7. 6.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DFA168-2827-4948-8306-0B4298882BA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52241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FA168-2827-4948-8306-0B4298882BA2}" type="slidenum"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7019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975D7-DBC9-46AC-809E-B5D069B0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32080F-A74E-A814-BB20-94C186F5A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F0EFA0-7890-F7C1-DD2C-A21C8820D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FEBCFE-0FE5-AED8-D2EB-0A7296C19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FA168-2827-4948-8306-0B4298882BA2}" type="slidenum"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1405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5330A-4BB1-0523-5E86-EF32541E1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5F289C-8563-833A-370E-0E01F736F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B2F469-D942-14B7-2FB1-201B3D6BE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17D9-AD9A-F44F-A5D4-30B9A318839A}" type="datetimeFigureOut">
              <a:t>2026. 7. 6.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A9ED80-AF8F-031E-79A7-0AE6F5C43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B1CCE7-3CC2-EB36-C654-30C7D6B2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4013-E8E0-DB4E-959D-16E0C4EA9FB4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86662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176A4D-DAAF-73F9-45F1-8E222643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CD086C-FDD4-BE9D-0F00-015A645BD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F07BF2-6652-7E43-C20F-92194948F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17D9-AD9A-F44F-A5D4-30B9A318839A}" type="datetimeFigureOut">
              <a:t>2026. 7. 6.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196D36-6530-B373-A0AA-D9369CD18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2B83F3-B83E-C571-BE7E-722DE37F0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4013-E8E0-DB4E-959D-16E0C4EA9FB4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0832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31FF6-F874-B226-876B-8E2B4C88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F530F-00CA-E2A2-E5A4-69880D0EC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B167B9-D530-3ED8-0663-2E79A2DD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17D9-AD9A-F44F-A5D4-30B9A318839A}" type="datetimeFigureOut">
              <a:t>2026. 7. 6.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C8925C-7FF3-A97B-A73A-58B8E9E96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92D18A-50BC-A5AE-2A67-ECE3D3B7A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4013-E8E0-DB4E-959D-16E0C4EA9FB4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179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17B72A-5215-8FB1-2B1F-B1771338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C9C558-9CFE-63EF-9F16-F9D0C95BE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E1DE09-C603-582E-5A94-71088B7D9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F7FC91-CC68-FB49-3189-62CFEF72F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17D9-AD9A-F44F-A5D4-30B9A318839A}" type="datetimeFigureOut">
              <a:t>2026. 7. 6.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487678-E2E6-8659-D4B3-70ED67FB4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3DC0A9-0441-9A32-6140-89FC6E3AE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4013-E8E0-DB4E-959D-16E0C4EA9FB4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9539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BB797-FDFB-0E61-FC0B-53D05F164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B4C74E-5572-592A-263A-623CBB971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356ADC-43EA-213A-4DCC-922A5316C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F5CCFF-86F4-2EAE-811C-FAAB634601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0B0A7F-CC8E-3C41-8617-30644B6EBF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DCF257-EAC9-7A70-3AC1-755098174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17D9-AD9A-F44F-A5D4-30B9A318839A}" type="datetimeFigureOut">
              <a:t>2026. 7. 6.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4BFA7D-CC24-8459-F759-2A549BFC1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2C03C4-6584-519E-76A0-89A20BD34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4013-E8E0-DB4E-959D-16E0C4EA9FB4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0885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72893-5D42-EA51-74F6-DA25166EE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5FA4C8-C928-919D-42C4-A4429FA1B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17D9-AD9A-F44F-A5D4-30B9A318839A}" type="datetimeFigureOut">
              <a:t>2026. 7. 6.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2D03D3-AB82-DC82-5BB6-89960A66C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2FA6F5-349F-C470-770D-D1E60792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4013-E8E0-DB4E-959D-16E0C4EA9FB4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20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1ACB41B-9600-3FAB-486A-87A5BBAB9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17D9-AD9A-F44F-A5D4-30B9A318839A}" type="datetimeFigureOut">
              <a:t>2026. 7. 6.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F6C39F-2BFE-944C-FA95-D51715E08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8B18DA-CA16-5D90-9AFA-D48119984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4013-E8E0-DB4E-959D-16E0C4EA9FB4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3181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5F4DB-958F-BCAE-0506-154D4D08E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DA7B83-7344-5E59-7E76-BC37C60E8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41ABAD-95F4-4D5F-8A3A-B8D5E4C25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C8DD96-B740-A81B-95FD-C35A3A08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17D9-AD9A-F44F-A5D4-30B9A318839A}" type="datetimeFigureOut">
              <a:t>2026. 7. 6.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C717EF-9751-ADAA-3249-79BD0C6B6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3D3478-1473-B79F-E2CC-3E7B10E65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4013-E8E0-DB4E-959D-16E0C4EA9FB4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8333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B2457-9B0A-6037-66AF-2000539F4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ADD556B-40DF-878E-0572-A761DD161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924F78-FCA6-3E01-DC84-116007E17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196690-FCC4-4590-F306-9A4F8890B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17D9-AD9A-F44F-A5D4-30B9A318839A}" type="datetimeFigureOut">
              <a:t>2026. 7. 6.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845CD3-183C-5C68-C8AD-7A8BB600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FD9B21-B5DE-D9A7-51FD-8330F2F55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4013-E8E0-DB4E-959D-16E0C4EA9FB4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35852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492EE-43E1-1810-31D1-BF0B55984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F9148D-F77D-6A5E-0816-CB383ED49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F699CD-A026-CCF0-8C61-C9934CD1E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17D9-AD9A-F44F-A5D4-30B9A318839A}" type="datetimeFigureOut">
              <a:t>2026. 7. 6.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92494-8086-8F95-55F8-B8C0CA382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A822CA-1C81-00E3-E371-BFBF4F17A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4013-E8E0-DB4E-959D-16E0C4EA9FB4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3446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8C1002-9211-493F-CBA4-E968013D5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F64BEC-2DA2-5CBB-D62B-6C1C86DC5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7DD4D5-74E0-9B9F-0629-A003F6B85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A17D9-AD9A-F44F-A5D4-30B9A318839A}" type="datetimeFigureOut">
              <a:t>2026. 7. 6.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FBD02F-E957-FD01-B2F3-171C3548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33D712-A9C2-0A72-B5C8-BE7B71C24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B4013-E8E0-DB4E-959D-16E0C4EA9FB4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97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B52A75-A28B-FDCB-5A34-894AED144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CAAB09-49AA-2E2D-9FB1-5D021D867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5CFC9A-E598-25AC-226B-CCD0A7294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A17D9-AD9A-F44F-A5D4-30B9A318839A}" type="datetimeFigureOut">
              <a:t>2026. 7. 6.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E8B789-1EC1-1810-1C44-F7338982C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97062D-177F-A401-F54F-A5763BB2A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CB4013-E8E0-DB4E-959D-16E0C4EA9FB4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3716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Realistic template of internet browser window. Empty browser page. White  mockup of website page. Vector 5893447 Vector Art at Vecteezy">
            <a:extLst>
              <a:ext uri="{FF2B5EF4-FFF2-40B4-BE49-F238E27FC236}">
                <a16:creationId xmlns:a16="http://schemas.microsoft.com/office/drawing/2014/main" id="{523D428F-C067-CD83-339D-F4EFA7F1E8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446" t="13555" b="12617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2" name="그림 1" descr="서강대학교 SAINT">
            <a:extLst>
              <a:ext uri="{FF2B5EF4-FFF2-40B4-BE49-F238E27FC236}">
                <a16:creationId xmlns:a16="http://schemas.microsoft.com/office/drawing/2014/main" id="{52F5A066-351A-376A-E5B2-36B24FCBB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5172" y="1429279"/>
            <a:ext cx="1015902" cy="321487"/>
          </a:xfrm>
          <a:prstGeom prst="rect">
            <a:avLst/>
          </a:prstGeom>
        </p:spPr>
      </p:pic>
      <p:grpSp>
        <p:nvGrpSpPr>
          <p:cNvPr id="67" name="그룹 66">
            <a:extLst>
              <a:ext uri="{FF2B5EF4-FFF2-40B4-BE49-F238E27FC236}">
                <a16:creationId xmlns:a16="http://schemas.microsoft.com/office/drawing/2014/main" id="{3AB37700-F5F8-B92F-8451-636D4742F2D1}"/>
              </a:ext>
            </a:extLst>
          </p:cNvPr>
          <p:cNvGrpSpPr/>
          <p:nvPr/>
        </p:nvGrpSpPr>
        <p:grpSpPr>
          <a:xfrm>
            <a:off x="3523786" y="1426648"/>
            <a:ext cx="5754499" cy="246222"/>
            <a:chOff x="3523786" y="1426648"/>
            <a:chExt cx="5754499" cy="24622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1A35B71-C1FF-0110-8278-6CF5C0EF41DD}"/>
                </a:ext>
              </a:extLst>
            </p:cNvPr>
            <p:cNvSpPr txBox="1"/>
            <p:nvPr/>
          </p:nvSpPr>
          <p:spPr>
            <a:xfrm>
              <a:off x="3523786" y="1426649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학생정보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E6A4E0D-33EC-C467-6DBE-9F818268DFB6}"/>
                </a:ext>
              </a:extLst>
            </p:cNvPr>
            <p:cNvSpPr txBox="1"/>
            <p:nvPr/>
          </p:nvSpPr>
          <p:spPr>
            <a:xfrm>
              <a:off x="4200378" y="1426649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학적변동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EE9C26-BEBC-8FA7-F69B-973512D0A81D}"/>
                </a:ext>
              </a:extLst>
            </p:cNvPr>
            <p:cNvSpPr txBox="1"/>
            <p:nvPr/>
          </p:nvSpPr>
          <p:spPr>
            <a:xfrm>
              <a:off x="4876970" y="1426649"/>
              <a:ext cx="7344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수업</a:t>
              </a:r>
              <a:r>
                <a:rPr kumimoji="1" lang="en-US" altLang="ko-KR" sz="1000">
                  <a:latin typeface="SOGANG UNIVERSITY TTF" pitchFamily="2" charset="-127"/>
                  <a:ea typeface="SOGANG UNIVERSITY TTF" pitchFamily="2" charset="-127"/>
                </a:rPr>
                <a:t>/</a:t>
              </a:r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성적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5D78CE-1CBF-95DC-84A8-48004B9B105F}"/>
                </a:ext>
              </a:extLst>
            </p:cNvPr>
            <p:cNvSpPr txBox="1"/>
            <p:nvPr/>
          </p:nvSpPr>
          <p:spPr>
            <a:xfrm>
              <a:off x="5622491" y="1426649"/>
              <a:ext cx="7344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등록</a:t>
              </a:r>
              <a:r>
                <a:rPr kumimoji="1" lang="en-US" altLang="ko-KR" sz="1000">
                  <a:latin typeface="SOGANG UNIVERSITY TTF" pitchFamily="2" charset="-127"/>
                  <a:ea typeface="SOGANG UNIVERSITY TTF" pitchFamily="2" charset="-127"/>
                </a:rPr>
                <a:t>/</a:t>
              </a:r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장학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C87D0FE-6560-1D0C-636F-05CCC7825D9F}"/>
                </a:ext>
              </a:extLst>
            </p:cNvPr>
            <p:cNvSpPr txBox="1"/>
            <p:nvPr/>
          </p:nvSpPr>
          <p:spPr>
            <a:xfrm>
              <a:off x="6368012" y="1426649"/>
              <a:ext cx="42511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졸업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FA9F3C-975A-5DA1-211D-F2DCFEF14668}"/>
                </a:ext>
              </a:extLst>
            </p:cNvPr>
            <p:cNvSpPr txBox="1"/>
            <p:nvPr/>
          </p:nvSpPr>
          <p:spPr>
            <a:xfrm>
              <a:off x="6804154" y="1426649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학생신청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4E8E24-412F-8CCB-2BB3-19128D4C0035}"/>
                </a:ext>
              </a:extLst>
            </p:cNvPr>
            <p:cNvSpPr txBox="1"/>
            <p:nvPr/>
          </p:nvSpPr>
          <p:spPr>
            <a:xfrm>
              <a:off x="7480746" y="1426649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학생활동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68C0391-2137-7752-BE18-04766B5C5A5A}"/>
                </a:ext>
              </a:extLst>
            </p:cNvPr>
            <p:cNvSpPr txBox="1"/>
            <p:nvPr/>
          </p:nvSpPr>
          <p:spPr>
            <a:xfrm>
              <a:off x="8157339" y="1426649"/>
              <a:ext cx="42511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시설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B4E8022-4475-E83C-EBD0-6CC8CDF917F9}"/>
                </a:ext>
              </a:extLst>
            </p:cNvPr>
            <p:cNvSpPr txBox="1"/>
            <p:nvPr/>
          </p:nvSpPr>
          <p:spPr>
            <a:xfrm>
              <a:off x="8593482" y="1426648"/>
              <a:ext cx="6848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000">
                  <a:solidFill>
                    <a:srgbClr val="C00000"/>
                  </a:solidFill>
                  <a:latin typeface="SOGANG UNIVERSITY TTF" pitchFamily="2" charset="-127"/>
                  <a:ea typeface="SOGANG UNIVERSITY TTF" pitchFamily="2" charset="-127"/>
                </a:rPr>
                <a:t>STREAM</a:t>
              </a:r>
              <a:endParaRPr kumimoji="1" lang="ko-KR" altLang="en-US" sz="1000">
                <a:solidFill>
                  <a:srgbClr val="C00000"/>
                </a:solidFill>
                <a:latin typeface="SOGANG UNIVERSITY TTF" pitchFamily="2" charset="-127"/>
                <a:ea typeface="SOGANG UNIVERSITY TTF" pitchFamily="2" charset="-127"/>
              </a:endParaRPr>
            </a:p>
          </p:txBody>
        </p:sp>
      </p:grp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423AEF9E-E61B-B99F-70FE-4199A15B5301}"/>
              </a:ext>
            </a:extLst>
          </p:cNvPr>
          <p:cNvCxnSpPr/>
          <p:nvPr/>
        </p:nvCxnSpPr>
        <p:spPr>
          <a:xfrm>
            <a:off x="1496291" y="1870364"/>
            <a:ext cx="88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5C4FEE55-4A47-7193-CE39-3561BD832383}"/>
              </a:ext>
            </a:extLst>
          </p:cNvPr>
          <p:cNvCxnSpPr>
            <a:cxnSpLocks/>
          </p:cNvCxnSpPr>
          <p:nvPr/>
        </p:nvCxnSpPr>
        <p:spPr>
          <a:xfrm>
            <a:off x="3352800" y="1870364"/>
            <a:ext cx="0" cy="44196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573CB97-5485-CCFE-663E-510590CDB8CF}"/>
              </a:ext>
            </a:extLst>
          </p:cNvPr>
          <p:cNvSpPr/>
          <p:nvPr/>
        </p:nvSpPr>
        <p:spPr>
          <a:xfrm>
            <a:off x="1634836" y="2078183"/>
            <a:ext cx="1579419" cy="1981199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FBEFF9-E7B4-7898-6EA2-1A639E255634}"/>
              </a:ext>
            </a:extLst>
          </p:cNvPr>
          <p:cNvSpPr txBox="1"/>
          <p:nvPr/>
        </p:nvSpPr>
        <p:spPr>
          <a:xfrm>
            <a:off x="1726918" y="2153925"/>
            <a:ext cx="6976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b="1">
                <a:solidFill>
                  <a:srgbClr val="C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STREAM</a:t>
            </a:r>
            <a:endParaRPr kumimoji="1" lang="ko-KR" altLang="en-US" sz="1000" b="1">
              <a:solidFill>
                <a:srgbClr val="C0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3B11426-74BB-59D3-16C1-39D4C178315F}"/>
              </a:ext>
            </a:extLst>
          </p:cNvPr>
          <p:cNvGrpSpPr/>
          <p:nvPr/>
        </p:nvGrpSpPr>
        <p:grpSpPr>
          <a:xfrm>
            <a:off x="1726920" y="2465092"/>
            <a:ext cx="1487337" cy="242647"/>
            <a:chOff x="1726918" y="2505635"/>
            <a:chExt cx="1487337" cy="242647"/>
          </a:xfrm>
        </p:grpSpPr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770758C5-2319-7300-FA7F-A7C6D0D237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6918" y="2505635"/>
              <a:ext cx="1487337" cy="0"/>
            </a:xfrm>
            <a:prstGeom prst="line">
              <a:avLst/>
            </a:prstGeom>
            <a:ln w="9525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2C4B89E-398E-0487-C7EF-3561FF5F1895}"/>
                </a:ext>
              </a:extLst>
            </p:cNvPr>
            <p:cNvGrpSpPr/>
            <p:nvPr/>
          </p:nvGrpSpPr>
          <p:grpSpPr>
            <a:xfrm>
              <a:off x="1757797" y="2517450"/>
              <a:ext cx="1264235" cy="230832"/>
              <a:chOff x="1757797" y="2517450"/>
              <a:chExt cx="1264235" cy="230832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FB43E905-9529-D52C-9F5B-EC2A45F58A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7797" y="2596866"/>
                <a:ext cx="71740" cy="72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0C7811-815A-C745-5FD4-BA4F9DC5558A}"/>
                  </a:ext>
                </a:extLst>
              </p:cNvPr>
              <p:cNvSpPr txBox="1"/>
              <p:nvPr/>
            </p:nvSpPr>
            <p:spPr>
              <a:xfrm>
                <a:off x="1869152" y="2517450"/>
                <a:ext cx="115288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900">
                    <a:solidFill>
                      <a:srgbClr val="C00000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교내 근로 모집 공고</a:t>
                </a: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F7AC8A6-8271-A51D-E697-BBD49BA1932A}"/>
              </a:ext>
            </a:extLst>
          </p:cNvPr>
          <p:cNvGrpSpPr/>
          <p:nvPr/>
        </p:nvGrpSpPr>
        <p:grpSpPr>
          <a:xfrm>
            <a:off x="1726919" y="2727555"/>
            <a:ext cx="1487337" cy="242647"/>
            <a:chOff x="1726918" y="2505635"/>
            <a:chExt cx="1487337" cy="242647"/>
          </a:xfrm>
        </p:grpSpPr>
        <p:cxnSp>
          <p:nvCxnSpPr>
            <p:cNvPr id="43" name="직선 연결선[R] 42">
              <a:extLst>
                <a:ext uri="{FF2B5EF4-FFF2-40B4-BE49-F238E27FC236}">
                  <a16:creationId xmlns:a16="http://schemas.microsoft.com/office/drawing/2014/main" id="{B4311CC3-DA14-168E-8333-CA362F6851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6918" y="2505635"/>
              <a:ext cx="1487337" cy="0"/>
            </a:xfrm>
            <a:prstGeom prst="line">
              <a:avLst/>
            </a:prstGeom>
            <a:ln w="9525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AA58F46-E618-8B9C-AC10-969C8F6BC14F}"/>
                </a:ext>
              </a:extLst>
            </p:cNvPr>
            <p:cNvGrpSpPr/>
            <p:nvPr/>
          </p:nvGrpSpPr>
          <p:grpSpPr>
            <a:xfrm>
              <a:off x="1757797" y="2517450"/>
              <a:ext cx="873102" cy="230832"/>
              <a:chOff x="1757797" y="2517450"/>
              <a:chExt cx="873102" cy="230832"/>
            </a:xfrm>
          </p:grpSpPr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5A7746D7-16C6-9BDA-4818-988FB58360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7797" y="2596866"/>
                <a:ext cx="71740" cy="72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3B153E1-BE46-F1DE-0058-EBFBE80E25D7}"/>
                  </a:ext>
                </a:extLst>
              </p:cNvPr>
              <p:cNvSpPr txBox="1"/>
              <p:nvPr/>
            </p:nvSpPr>
            <p:spPr>
              <a:xfrm>
                <a:off x="1869152" y="2517450"/>
                <a:ext cx="76174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지원서 작성</a:t>
                </a:r>
              </a:p>
            </p:txBody>
          </p:sp>
        </p:grp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5AA9A12-0FBB-A5CF-A34A-9439394F6816}"/>
              </a:ext>
            </a:extLst>
          </p:cNvPr>
          <p:cNvGrpSpPr/>
          <p:nvPr/>
        </p:nvGrpSpPr>
        <p:grpSpPr>
          <a:xfrm>
            <a:off x="1726918" y="2990018"/>
            <a:ext cx="1487337" cy="242647"/>
            <a:chOff x="1726918" y="2505635"/>
            <a:chExt cx="1487337" cy="242647"/>
          </a:xfrm>
        </p:grpSpPr>
        <p:cxnSp>
          <p:nvCxnSpPr>
            <p:cNvPr id="48" name="직선 연결선[R] 47">
              <a:extLst>
                <a:ext uri="{FF2B5EF4-FFF2-40B4-BE49-F238E27FC236}">
                  <a16:creationId xmlns:a16="http://schemas.microsoft.com/office/drawing/2014/main" id="{DBB7AE62-6383-2A04-2A1B-D5607C430B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6918" y="2505635"/>
              <a:ext cx="1487337" cy="0"/>
            </a:xfrm>
            <a:prstGeom prst="line">
              <a:avLst/>
            </a:prstGeom>
            <a:ln w="9525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7696AEF-9D23-2B72-01C4-6E308802E5FE}"/>
                </a:ext>
              </a:extLst>
            </p:cNvPr>
            <p:cNvGrpSpPr/>
            <p:nvPr/>
          </p:nvGrpSpPr>
          <p:grpSpPr>
            <a:xfrm>
              <a:off x="1757797" y="2517450"/>
              <a:ext cx="905162" cy="230832"/>
              <a:chOff x="1757797" y="2517450"/>
              <a:chExt cx="905162" cy="230832"/>
            </a:xfrm>
          </p:grpSpPr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59AB18AB-9078-8D8E-680F-C0B5B12CED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7797" y="2596866"/>
                <a:ext cx="71740" cy="72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D09760A-ACAA-686D-06C8-2AE342671F0D}"/>
                  </a:ext>
                </a:extLst>
              </p:cNvPr>
              <p:cNvSpPr txBox="1"/>
              <p:nvPr/>
            </p:nvSpPr>
            <p:spPr>
              <a:xfrm>
                <a:off x="1869152" y="2517450"/>
                <a:ext cx="79380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내 지원 현황</a:t>
                </a:r>
              </a:p>
            </p:txBody>
          </p:sp>
        </p:grp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325E014B-064C-37AC-16AE-FF25A0F297FB}"/>
              </a:ext>
            </a:extLst>
          </p:cNvPr>
          <p:cNvGrpSpPr/>
          <p:nvPr/>
        </p:nvGrpSpPr>
        <p:grpSpPr>
          <a:xfrm>
            <a:off x="1726918" y="3252481"/>
            <a:ext cx="1487337" cy="242647"/>
            <a:chOff x="1726918" y="2505635"/>
            <a:chExt cx="1487337" cy="242647"/>
          </a:xfrm>
        </p:grpSpPr>
        <p:cxnSp>
          <p:nvCxnSpPr>
            <p:cNvPr id="53" name="직선 연결선[R] 52">
              <a:extLst>
                <a:ext uri="{FF2B5EF4-FFF2-40B4-BE49-F238E27FC236}">
                  <a16:creationId xmlns:a16="http://schemas.microsoft.com/office/drawing/2014/main" id="{4C6469E0-1090-8E6E-3441-FCAD7AE579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6918" y="2505635"/>
              <a:ext cx="1487337" cy="0"/>
            </a:xfrm>
            <a:prstGeom prst="line">
              <a:avLst/>
            </a:prstGeom>
            <a:ln w="9525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71BD7D3D-702F-F154-38AD-87D8A1303B8C}"/>
                </a:ext>
              </a:extLst>
            </p:cNvPr>
            <p:cNvGrpSpPr/>
            <p:nvPr/>
          </p:nvGrpSpPr>
          <p:grpSpPr>
            <a:xfrm>
              <a:off x="1757797" y="2517450"/>
              <a:ext cx="873102" cy="230832"/>
              <a:chOff x="1757797" y="2517450"/>
              <a:chExt cx="873102" cy="230832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A70E52EE-CA3A-9D42-EF3F-CFEC3DC3DF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7797" y="2596866"/>
                <a:ext cx="71740" cy="72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026B223-F52C-D594-42F6-8C7E89F046A4}"/>
                  </a:ext>
                </a:extLst>
              </p:cNvPr>
              <p:cNvSpPr txBox="1"/>
              <p:nvPr/>
            </p:nvSpPr>
            <p:spPr>
              <a:xfrm>
                <a:off x="1869152" y="2517450"/>
                <a:ext cx="76174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근무 시간표</a:t>
                </a:r>
              </a:p>
            </p:txBody>
          </p:sp>
        </p:grp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C4B9ACC-4467-5459-80D7-48F5B9A2243C}"/>
              </a:ext>
            </a:extLst>
          </p:cNvPr>
          <p:cNvGrpSpPr/>
          <p:nvPr/>
        </p:nvGrpSpPr>
        <p:grpSpPr>
          <a:xfrm>
            <a:off x="1726918" y="3514944"/>
            <a:ext cx="1487337" cy="242647"/>
            <a:chOff x="1726918" y="2505635"/>
            <a:chExt cx="1487337" cy="242647"/>
          </a:xfrm>
        </p:grpSpPr>
        <p:cxnSp>
          <p:nvCxnSpPr>
            <p:cNvPr id="58" name="직선 연결선[R] 57">
              <a:extLst>
                <a:ext uri="{FF2B5EF4-FFF2-40B4-BE49-F238E27FC236}">
                  <a16:creationId xmlns:a16="http://schemas.microsoft.com/office/drawing/2014/main" id="{A2A2E9BE-0068-4EA0-4E97-43F213F308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6918" y="2505635"/>
              <a:ext cx="1487337" cy="0"/>
            </a:xfrm>
            <a:prstGeom prst="line">
              <a:avLst/>
            </a:prstGeom>
            <a:ln w="9525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0CB08499-CC34-F602-3869-976BDA6BC859}"/>
                </a:ext>
              </a:extLst>
            </p:cNvPr>
            <p:cNvGrpSpPr/>
            <p:nvPr/>
          </p:nvGrpSpPr>
          <p:grpSpPr>
            <a:xfrm>
              <a:off x="1757797" y="2517450"/>
              <a:ext cx="764098" cy="230832"/>
              <a:chOff x="1757797" y="2517450"/>
              <a:chExt cx="764098" cy="230832"/>
            </a:xfrm>
          </p:grpSpPr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CF80BBC4-D97F-78D2-86B4-944E55B72F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7797" y="2596866"/>
                <a:ext cx="71740" cy="72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C9CED33-F490-9C95-C6B8-1FE9B8530CB1}"/>
                  </a:ext>
                </a:extLst>
              </p:cNvPr>
              <p:cNvSpPr txBox="1"/>
              <p:nvPr/>
            </p:nvSpPr>
            <p:spPr>
              <a:xfrm>
                <a:off x="1869152" y="2517450"/>
                <a:ext cx="652743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대타 요청</a:t>
                </a:r>
              </a:p>
            </p:txBody>
          </p:sp>
        </p:grp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75AF1BC-43C7-BC40-3E7A-83F6BA082F31}"/>
              </a:ext>
            </a:extLst>
          </p:cNvPr>
          <p:cNvGrpSpPr/>
          <p:nvPr/>
        </p:nvGrpSpPr>
        <p:grpSpPr>
          <a:xfrm>
            <a:off x="1726917" y="3777409"/>
            <a:ext cx="1487337" cy="242647"/>
            <a:chOff x="1726918" y="2505635"/>
            <a:chExt cx="1487337" cy="242647"/>
          </a:xfrm>
        </p:grpSpPr>
        <p:cxnSp>
          <p:nvCxnSpPr>
            <p:cNvPr id="63" name="직선 연결선[R] 62">
              <a:extLst>
                <a:ext uri="{FF2B5EF4-FFF2-40B4-BE49-F238E27FC236}">
                  <a16:creationId xmlns:a16="http://schemas.microsoft.com/office/drawing/2014/main" id="{8039B640-42A4-4255-5DF6-AD3BD0889D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6918" y="2505635"/>
              <a:ext cx="1487337" cy="0"/>
            </a:xfrm>
            <a:prstGeom prst="line">
              <a:avLst/>
            </a:prstGeom>
            <a:ln w="9525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9B7C62A1-9B88-55DC-1FCE-BD74457DC0B2}"/>
                </a:ext>
              </a:extLst>
            </p:cNvPr>
            <p:cNvGrpSpPr/>
            <p:nvPr/>
          </p:nvGrpSpPr>
          <p:grpSpPr>
            <a:xfrm>
              <a:off x="1757797" y="2517450"/>
              <a:ext cx="764098" cy="230832"/>
              <a:chOff x="1757797" y="2517450"/>
              <a:chExt cx="764098" cy="230832"/>
            </a:xfrm>
          </p:grpSpPr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7D4D6727-FB95-6C6B-5E0E-B8775D2C3A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7797" y="2596866"/>
                <a:ext cx="71740" cy="72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29DC693-9D12-22FD-DA64-1A5067C77DB7}"/>
                  </a:ext>
                </a:extLst>
              </p:cNvPr>
              <p:cNvSpPr txBox="1"/>
              <p:nvPr/>
            </p:nvSpPr>
            <p:spPr>
              <a:xfrm>
                <a:off x="1869152" y="2517450"/>
                <a:ext cx="652743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출결 내역</a:t>
                </a:r>
              </a:p>
            </p:txBody>
          </p:sp>
        </p:grp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3151D721-60DB-09A1-40AB-004F6CFCBCCE}"/>
              </a:ext>
            </a:extLst>
          </p:cNvPr>
          <p:cNvGrpSpPr/>
          <p:nvPr/>
        </p:nvGrpSpPr>
        <p:grpSpPr>
          <a:xfrm>
            <a:off x="3168663" y="1890707"/>
            <a:ext cx="180978" cy="140362"/>
            <a:chOff x="3168663" y="1890707"/>
            <a:chExt cx="180978" cy="140362"/>
          </a:xfrm>
        </p:grpSpPr>
        <p:sp>
          <p:nvSpPr>
            <p:cNvPr id="68" name="양쪽 모서리가 둥근 사각형 67">
              <a:extLst>
                <a:ext uri="{FF2B5EF4-FFF2-40B4-BE49-F238E27FC236}">
                  <a16:creationId xmlns:a16="http://schemas.microsoft.com/office/drawing/2014/main" id="{292A6008-EAAF-FE08-9B95-E6D5064C417C}"/>
                </a:ext>
              </a:extLst>
            </p:cNvPr>
            <p:cNvSpPr/>
            <p:nvPr/>
          </p:nvSpPr>
          <p:spPr>
            <a:xfrm rot="16200000" flipH="1">
              <a:off x="3188971" y="1870399"/>
              <a:ext cx="140362" cy="18097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1" name="직선 연결선[R] 70">
              <a:extLst>
                <a:ext uri="{FF2B5EF4-FFF2-40B4-BE49-F238E27FC236}">
                  <a16:creationId xmlns:a16="http://schemas.microsoft.com/office/drawing/2014/main" id="{9E1AF758-DC50-0379-CBFF-FA8D143763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0514" y="1912930"/>
              <a:ext cx="46800" cy="468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[R] 72">
              <a:extLst>
                <a:ext uri="{FF2B5EF4-FFF2-40B4-BE49-F238E27FC236}">
                  <a16:creationId xmlns:a16="http://schemas.microsoft.com/office/drawing/2014/main" id="{0E8530E6-904F-C033-EE9D-C7B6882557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5914" y="1912930"/>
              <a:ext cx="46800" cy="468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[R] 73">
              <a:extLst>
                <a:ext uri="{FF2B5EF4-FFF2-40B4-BE49-F238E27FC236}">
                  <a16:creationId xmlns:a16="http://schemas.microsoft.com/office/drawing/2014/main" id="{D23A0594-8581-9E27-A49D-386A44622E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3689" y="1957380"/>
              <a:ext cx="46800" cy="468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[R] 74">
              <a:extLst>
                <a:ext uri="{FF2B5EF4-FFF2-40B4-BE49-F238E27FC236}">
                  <a16:creationId xmlns:a16="http://schemas.microsoft.com/office/drawing/2014/main" id="{6F7E0023-F6A5-46A7-2B57-0DE7E83207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29089" y="1957380"/>
              <a:ext cx="46800" cy="468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CE4C8BB3-5548-4D71-A07F-208E32698E0F}"/>
              </a:ext>
            </a:extLst>
          </p:cNvPr>
          <p:cNvSpPr/>
          <p:nvPr/>
        </p:nvSpPr>
        <p:spPr>
          <a:xfrm>
            <a:off x="3657600" y="2031069"/>
            <a:ext cx="6412675" cy="369077"/>
          </a:xfrm>
          <a:prstGeom prst="roundRect">
            <a:avLst>
              <a:gd name="adj" fmla="val 23102"/>
            </a:avLst>
          </a:prstGeom>
          <a:solidFill>
            <a:schemeClr val="bg1"/>
          </a:solidFill>
          <a:ln>
            <a:solidFill>
              <a:srgbClr val="861F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F1D2164-E8F2-B6AE-171B-ECCAFD5B2D0E}"/>
              </a:ext>
            </a:extLst>
          </p:cNvPr>
          <p:cNvSpPr txBox="1"/>
          <p:nvPr/>
        </p:nvSpPr>
        <p:spPr>
          <a:xfrm>
            <a:off x="3732092" y="2078185"/>
            <a:ext cx="13386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b="1">
                <a:latin typeface="Freesentation 7 Bold" pitchFamily="2" charset="-127"/>
                <a:ea typeface="Freesentation 7 Bold" pitchFamily="2" charset="-127"/>
                <a:cs typeface="Arial" panose="020B0604020202020204" pitchFamily="34" charset="0"/>
              </a:rPr>
              <a:t>교내 근로 모집 공고</a:t>
            </a:r>
          </a:p>
        </p:txBody>
      </p: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F3CB0F14-8E81-0D95-46AA-A0E1BC684BAC}"/>
              </a:ext>
            </a:extLst>
          </p:cNvPr>
          <p:cNvSpPr/>
          <p:nvPr/>
        </p:nvSpPr>
        <p:spPr>
          <a:xfrm>
            <a:off x="3657599" y="2503500"/>
            <a:ext cx="6412675" cy="1254091"/>
          </a:xfrm>
          <a:prstGeom prst="roundRect">
            <a:avLst>
              <a:gd name="adj" fmla="val 7241"/>
            </a:avLst>
          </a:prstGeom>
          <a:solidFill>
            <a:schemeClr val="bg1"/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60365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BB69A-F5C0-0EAB-E171-3921F53CB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Realistic template of internet browser window. Empty browser page. White  mockup of website page. Vector 5893447 Vector Art at Vecteezy">
            <a:extLst>
              <a:ext uri="{FF2B5EF4-FFF2-40B4-BE49-F238E27FC236}">
                <a16:creationId xmlns:a16="http://schemas.microsoft.com/office/drawing/2014/main" id="{9EF6F897-BF7D-293E-0C24-4C600A4A49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446" t="13555" b="12617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2" name="그림 1" descr="서강대학교 SAINT">
            <a:extLst>
              <a:ext uri="{FF2B5EF4-FFF2-40B4-BE49-F238E27FC236}">
                <a16:creationId xmlns:a16="http://schemas.microsoft.com/office/drawing/2014/main" id="{EEE9CA54-4339-A1AC-8D51-F135194DC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5172" y="1429279"/>
            <a:ext cx="1015902" cy="321487"/>
          </a:xfrm>
          <a:prstGeom prst="rect">
            <a:avLst/>
          </a:prstGeom>
        </p:spPr>
      </p:pic>
      <p:grpSp>
        <p:nvGrpSpPr>
          <p:cNvPr id="67" name="그룹 66">
            <a:extLst>
              <a:ext uri="{FF2B5EF4-FFF2-40B4-BE49-F238E27FC236}">
                <a16:creationId xmlns:a16="http://schemas.microsoft.com/office/drawing/2014/main" id="{DF87D1AA-89B8-C9F4-FC9F-888EB1C7F131}"/>
              </a:ext>
            </a:extLst>
          </p:cNvPr>
          <p:cNvGrpSpPr/>
          <p:nvPr/>
        </p:nvGrpSpPr>
        <p:grpSpPr>
          <a:xfrm>
            <a:off x="3644011" y="1426649"/>
            <a:ext cx="4511920" cy="246221"/>
            <a:chOff x="3644011" y="1426649"/>
            <a:chExt cx="4511920" cy="24622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2A9CAE-20E1-9236-ACC0-81E67A8FD265}"/>
                </a:ext>
              </a:extLst>
            </p:cNvPr>
            <p:cNvSpPr txBox="1"/>
            <p:nvPr/>
          </p:nvSpPr>
          <p:spPr>
            <a:xfrm>
              <a:off x="3644011" y="1426649"/>
              <a:ext cx="42511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인사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380852-9437-EE08-4470-E30184DE5417}"/>
                </a:ext>
              </a:extLst>
            </p:cNvPr>
            <p:cNvSpPr txBox="1"/>
            <p:nvPr/>
          </p:nvSpPr>
          <p:spPr>
            <a:xfrm>
              <a:off x="4251674" y="1426649"/>
              <a:ext cx="42511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예산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1ACECA-2BE5-0A9E-EAA9-1591BF67563C}"/>
                </a:ext>
              </a:extLst>
            </p:cNvPr>
            <p:cNvSpPr txBox="1"/>
            <p:nvPr/>
          </p:nvSpPr>
          <p:spPr>
            <a:xfrm>
              <a:off x="4859337" y="1426649"/>
              <a:ext cx="42511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자산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816C51C-4E67-1399-5A0C-06ACB11D9010}"/>
                </a:ext>
              </a:extLst>
            </p:cNvPr>
            <p:cNvSpPr txBox="1"/>
            <p:nvPr/>
          </p:nvSpPr>
          <p:spPr>
            <a:xfrm>
              <a:off x="5467000" y="1426649"/>
              <a:ext cx="42511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구매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0E23657-6B9B-859D-D19E-5004C4DED9A3}"/>
                </a:ext>
              </a:extLst>
            </p:cNvPr>
            <p:cNvSpPr txBox="1"/>
            <p:nvPr/>
          </p:nvSpPr>
          <p:spPr>
            <a:xfrm>
              <a:off x="6074663" y="1426649"/>
              <a:ext cx="42511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시설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BC6CE38-478D-DCA1-B9DB-6634EFAE472C}"/>
                </a:ext>
              </a:extLst>
            </p:cNvPr>
            <p:cNvSpPr txBox="1"/>
            <p:nvPr/>
          </p:nvSpPr>
          <p:spPr>
            <a:xfrm>
              <a:off x="6682326" y="1426649"/>
              <a:ext cx="6062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000">
                  <a:latin typeface="SOGANG UNIVERSITY TTF" pitchFamily="2" charset="-127"/>
                  <a:ea typeface="SOGANG UNIVERSITY TTF" pitchFamily="2" charset="-127"/>
                </a:rPr>
                <a:t>BI/</a:t>
              </a:r>
              <a:r>
                <a:rPr kumimoji="1" lang="ko-KR" altLang="en-US" sz="1000">
                  <a:latin typeface="SOGANG UNIVERSITY TTF" pitchFamily="2" charset="-127"/>
                  <a:ea typeface="SOGANG UNIVERSITY TTF" pitchFamily="2" charset="-127"/>
                </a:rPr>
                <a:t>평가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C3838DE-5454-B8E7-8C32-9113E46A7DF9}"/>
                </a:ext>
              </a:extLst>
            </p:cNvPr>
            <p:cNvSpPr txBox="1"/>
            <p:nvPr/>
          </p:nvSpPr>
          <p:spPr>
            <a:xfrm>
              <a:off x="7471128" y="1426649"/>
              <a:ext cx="6848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000">
                  <a:solidFill>
                    <a:srgbClr val="C00000"/>
                  </a:solidFill>
                  <a:latin typeface="SOGANG UNIVERSITY TTF" pitchFamily="2" charset="-127"/>
                  <a:ea typeface="SOGANG UNIVERSITY TTF" pitchFamily="2" charset="-127"/>
                </a:rPr>
                <a:t>STREAM</a:t>
              </a:r>
              <a:endParaRPr kumimoji="1" lang="ko-KR" altLang="en-US" sz="1000">
                <a:solidFill>
                  <a:srgbClr val="C00000"/>
                </a:solidFill>
                <a:latin typeface="SOGANG UNIVERSITY TTF" pitchFamily="2" charset="-127"/>
                <a:ea typeface="SOGANG UNIVERSITY TTF" pitchFamily="2" charset="-127"/>
              </a:endParaRPr>
            </a:p>
          </p:txBody>
        </p:sp>
      </p:grp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2E2D7E2F-027F-9902-5E62-15349DB3ABA0}"/>
              </a:ext>
            </a:extLst>
          </p:cNvPr>
          <p:cNvCxnSpPr/>
          <p:nvPr/>
        </p:nvCxnSpPr>
        <p:spPr>
          <a:xfrm>
            <a:off x="1496291" y="1870364"/>
            <a:ext cx="88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1E743370-2459-DE27-ADD8-BD3466FC6627}"/>
              </a:ext>
            </a:extLst>
          </p:cNvPr>
          <p:cNvCxnSpPr>
            <a:cxnSpLocks/>
          </p:cNvCxnSpPr>
          <p:nvPr/>
        </p:nvCxnSpPr>
        <p:spPr>
          <a:xfrm>
            <a:off x="3352800" y="1870364"/>
            <a:ext cx="0" cy="44196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F62EB11-4B93-F3F8-3E1B-F288CAD3E379}"/>
              </a:ext>
            </a:extLst>
          </p:cNvPr>
          <p:cNvSpPr/>
          <p:nvPr/>
        </p:nvSpPr>
        <p:spPr>
          <a:xfrm>
            <a:off x="1634836" y="2078184"/>
            <a:ext cx="1579419" cy="1707978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95B0D8-D22D-732D-274E-A95CC54B8789}"/>
              </a:ext>
            </a:extLst>
          </p:cNvPr>
          <p:cNvSpPr txBox="1"/>
          <p:nvPr/>
        </p:nvSpPr>
        <p:spPr>
          <a:xfrm>
            <a:off x="1726918" y="2153925"/>
            <a:ext cx="6976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b="1">
                <a:solidFill>
                  <a:srgbClr val="C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STREAM</a:t>
            </a:r>
            <a:endParaRPr kumimoji="1" lang="ko-KR" altLang="en-US" sz="1000" b="1">
              <a:solidFill>
                <a:srgbClr val="C0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7505EAA-2469-A1DF-E321-D88BA22F923E}"/>
              </a:ext>
            </a:extLst>
          </p:cNvPr>
          <p:cNvGrpSpPr/>
          <p:nvPr/>
        </p:nvGrpSpPr>
        <p:grpSpPr>
          <a:xfrm>
            <a:off x="1726920" y="2465092"/>
            <a:ext cx="1487337" cy="242647"/>
            <a:chOff x="1726918" y="2505635"/>
            <a:chExt cx="1487337" cy="242647"/>
          </a:xfrm>
        </p:grpSpPr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99F54817-5295-A6CA-A1F3-DA3951B393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6918" y="2505635"/>
              <a:ext cx="1487337" cy="0"/>
            </a:xfrm>
            <a:prstGeom prst="line">
              <a:avLst/>
            </a:prstGeom>
            <a:ln w="9525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C9FD8513-3714-3B3B-0589-4D5F974F659E}"/>
                </a:ext>
              </a:extLst>
            </p:cNvPr>
            <p:cNvGrpSpPr/>
            <p:nvPr/>
          </p:nvGrpSpPr>
          <p:grpSpPr>
            <a:xfrm>
              <a:off x="1757797" y="2517450"/>
              <a:ext cx="1264235" cy="230832"/>
              <a:chOff x="1757797" y="2517450"/>
              <a:chExt cx="1264235" cy="230832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D439CEC3-81DD-EC7D-691E-92C0ACC35D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7797" y="2596866"/>
                <a:ext cx="71740" cy="72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86D9024-95A2-D66B-A90B-3134A051930B}"/>
                  </a:ext>
                </a:extLst>
              </p:cNvPr>
              <p:cNvSpPr txBox="1"/>
              <p:nvPr/>
            </p:nvSpPr>
            <p:spPr>
              <a:xfrm>
                <a:off x="1869152" y="2517450"/>
                <a:ext cx="115288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900">
                    <a:solidFill>
                      <a:srgbClr val="C00000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교내 근로 모집 공고</a:t>
                </a: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1813538-C8C8-8DB2-A66A-F0A259D3D9F8}"/>
              </a:ext>
            </a:extLst>
          </p:cNvPr>
          <p:cNvGrpSpPr/>
          <p:nvPr/>
        </p:nvGrpSpPr>
        <p:grpSpPr>
          <a:xfrm>
            <a:off x="1726919" y="2727555"/>
            <a:ext cx="1487337" cy="242647"/>
            <a:chOff x="1726918" y="2505635"/>
            <a:chExt cx="1487337" cy="242647"/>
          </a:xfrm>
        </p:grpSpPr>
        <p:cxnSp>
          <p:nvCxnSpPr>
            <p:cNvPr id="43" name="직선 연결선[R] 42">
              <a:extLst>
                <a:ext uri="{FF2B5EF4-FFF2-40B4-BE49-F238E27FC236}">
                  <a16:creationId xmlns:a16="http://schemas.microsoft.com/office/drawing/2014/main" id="{15780228-FAEE-C5CD-20FA-5F73324279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6918" y="2505635"/>
              <a:ext cx="1487337" cy="0"/>
            </a:xfrm>
            <a:prstGeom prst="line">
              <a:avLst/>
            </a:prstGeom>
            <a:ln w="9525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9503C304-B1F0-A321-5514-25762E62EA7F}"/>
                </a:ext>
              </a:extLst>
            </p:cNvPr>
            <p:cNvGrpSpPr/>
            <p:nvPr/>
          </p:nvGrpSpPr>
          <p:grpSpPr>
            <a:xfrm>
              <a:off x="1757797" y="2517450"/>
              <a:ext cx="764098" cy="230832"/>
              <a:chOff x="1757797" y="2517450"/>
              <a:chExt cx="764098" cy="230832"/>
            </a:xfrm>
          </p:grpSpPr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1EFA35BD-767F-42AF-5EAD-A1A4C64089E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7797" y="2596866"/>
                <a:ext cx="71740" cy="72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AF35DE4-A041-0109-CC71-87886E41BF3F}"/>
                  </a:ext>
                </a:extLst>
              </p:cNvPr>
              <p:cNvSpPr txBox="1"/>
              <p:nvPr/>
            </p:nvSpPr>
            <p:spPr>
              <a:xfrm>
                <a:off x="1869152" y="2517450"/>
                <a:ext cx="652743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학생 선발</a:t>
                </a:r>
              </a:p>
            </p:txBody>
          </p:sp>
        </p:grp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610604E-CA23-9541-76FF-98E1A6F46A44}"/>
              </a:ext>
            </a:extLst>
          </p:cNvPr>
          <p:cNvGrpSpPr/>
          <p:nvPr/>
        </p:nvGrpSpPr>
        <p:grpSpPr>
          <a:xfrm>
            <a:off x="1726918" y="2990018"/>
            <a:ext cx="1487337" cy="242647"/>
            <a:chOff x="1726918" y="2505635"/>
            <a:chExt cx="1487337" cy="242647"/>
          </a:xfrm>
        </p:grpSpPr>
        <p:cxnSp>
          <p:nvCxnSpPr>
            <p:cNvPr id="48" name="직선 연결선[R] 47">
              <a:extLst>
                <a:ext uri="{FF2B5EF4-FFF2-40B4-BE49-F238E27FC236}">
                  <a16:creationId xmlns:a16="http://schemas.microsoft.com/office/drawing/2014/main" id="{F944C247-09C0-DD6C-5BDA-896B0289FA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6918" y="2505635"/>
              <a:ext cx="1487337" cy="0"/>
            </a:xfrm>
            <a:prstGeom prst="line">
              <a:avLst/>
            </a:prstGeom>
            <a:ln w="9525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86CDF71-1012-EA80-9318-E0C37474E2C9}"/>
                </a:ext>
              </a:extLst>
            </p:cNvPr>
            <p:cNvGrpSpPr/>
            <p:nvPr/>
          </p:nvGrpSpPr>
          <p:grpSpPr>
            <a:xfrm>
              <a:off x="1757797" y="2517450"/>
              <a:ext cx="764098" cy="230832"/>
              <a:chOff x="1757797" y="2517450"/>
              <a:chExt cx="764098" cy="230832"/>
            </a:xfrm>
          </p:grpSpPr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81BBCAB5-A78A-E68E-F0E9-06FD339B5E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7797" y="2596866"/>
                <a:ext cx="71740" cy="72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5E93DC3-BC32-78F2-8681-73B4F3A11143}"/>
                  </a:ext>
                </a:extLst>
              </p:cNvPr>
              <p:cNvSpPr txBox="1"/>
              <p:nvPr/>
            </p:nvSpPr>
            <p:spPr>
              <a:xfrm>
                <a:off x="1869152" y="2517450"/>
                <a:ext cx="652743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학생 관리</a:t>
                </a:r>
              </a:p>
            </p:txBody>
          </p:sp>
        </p:grp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557C3F45-421D-8D86-627F-F1F41DF2FE39}"/>
              </a:ext>
            </a:extLst>
          </p:cNvPr>
          <p:cNvGrpSpPr/>
          <p:nvPr/>
        </p:nvGrpSpPr>
        <p:grpSpPr>
          <a:xfrm>
            <a:off x="1726918" y="3252481"/>
            <a:ext cx="1487337" cy="242647"/>
            <a:chOff x="1726918" y="2505635"/>
            <a:chExt cx="1487337" cy="242647"/>
          </a:xfrm>
        </p:grpSpPr>
        <p:cxnSp>
          <p:nvCxnSpPr>
            <p:cNvPr id="53" name="직선 연결선[R] 52">
              <a:extLst>
                <a:ext uri="{FF2B5EF4-FFF2-40B4-BE49-F238E27FC236}">
                  <a16:creationId xmlns:a16="http://schemas.microsoft.com/office/drawing/2014/main" id="{BF4929FC-9193-95AE-183F-8BD880D070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6918" y="2505635"/>
              <a:ext cx="1487337" cy="0"/>
            </a:xfrm>
            <a:prstGeom prst="line">
              <a:avLst/>
            </a:prstGeom>
            <a:ln w="9525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9AD7E8F6-6F2F-88E9-8D3B-B9D749401D01}"/>
                </a:ext>
              </a:extLst>
            </p:cNvPr>
            <p:cNvGrpSpPr/>
            <p:nvPr/>
          </p:nvGrpSpPr>
          <p:grpSpPr>
            <a:xfrm>
              <a:off x="1757797" y="2517450"/>
              <a:ext cx="873102" cy="230832"/>
              <a:chOff x="1757797" y="2517450"/>
              <a:chExt cx="873102" cy="230832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4974C1D2-B62F-2283-4AB9-F8BFDA4F90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7797" y="2596866"/>
                <a:ext cx="71740" cy="72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543ADF9-363E-07AA-D1B6-B47DDBCA1152}"/>
                  </a:ext>
                </a:extLst>
              </p:cNvPr>
              <p:cNvSpPr txBox="1"/>
              <p:nvPr/>
            </p:nvSpPr>
            <p:spPr>
              <a:xfrm>
                <a:off x="1869152" y="2517450"/>
                <a:ext cx="76174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근로 시간표</a:t>
                </a:r>
              </a:p>
            </p:txBody>
          </p:sp>
        </p:grp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F9CBF37-CB0F-8300-98C1-35DB55226025}"/>
              </a:ext>
            </a:extLst>
          </p:cNvPr>
          <p:cNvGrpSpPr/>
          <p:nvPr/>
        </p:nvGrpSpPr>
        <p:grpSpPr>
          <a:xfrm>
            <a:off x="1726918" y="3514944"/>
            <a:ext cx="1487337" cy="242647"/>
            <a:chOff x="1726918" y="2505635"/>
            <a:chExt cx="1487337" cy="242647"/>
          </a:xfrm>
        </p:grpSpPr>
        <p:cxnSp>
          <p:nvCxnSpPr>
            <p:cNvPr id="58" name="직선 연결선[R] 57">
              <a:extLst>
                <a:ext uri="{FF2B5EF4-FFF2-40B4-BE49-F238E27FC236}">
                  <a16:creationId xmlns:a16="http://schemas.microsoft.com/office/drawing/2014/main" id="{91481A9C-3497-6416-0033-F017BEDBC5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6918" y="2505635"/>
              <a:ext cx="1487337" cy="0"/>
            </a:xfrm>
            <a:prstGeom prst="line">
              <a:avLst/>
            </a:prstGeom>
            <a:ln w="9525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DEB8D506-9A43-31FA-F82A-A293AED31257}"/>
                </a:ext>
              </a:extLst>
            </p:cNvPr>
            <p:cNvGrpSpPr/>
            <p:nvPr/>
          </p:nvGrpSpPr>
          <p:grpSpPr>
            <a:xfrm>
              <a:off x="1757797" y="2517450"/>
              <a:ext cx="982106" cy="230832"/>
              <a:chOff x="1757797" y="2517450"/>
              <a:chExt cx="982106" cy="230832"/>
            </a:xfrm>
          </p:grpSpPr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E6737048-A38D-A37E-2B08-5890DDAB89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57797" y="2596866"/>
                <a:ext cx="71740" cy="72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0B322EF-1B7B-F5AD-7FF5-BEDD9AC68564}"/>
                  </a:ext>
                </a:extLst>
              </p:cNvPr>
              <p:cNvSpPr txBox="1"/>
              <p:nvPr/>
            </p:nvSpPr>
            <p:spPr>
              <a:xfrm>
                <a:off x="1869152" y="2517450"/>
                <a:ext cx="87075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운영 대시보드</a:t>
                </a:r>
              </a:p>
            </p:txBody>
          </p:sp>
        </p:grp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FF4458C9-1527-50D4-CC92-4998DC9DDE40}"/>
              </a:ext>
            </a:extLst>
          </p:cNvPr>
          <p:cNvGrpSpPr/>
          <p:nvPr/>
        </p:nvGrpSpPr>
        <p:grpSpPr>
          <a:xfrm>
            <a:off x="3168663" y="1890707"/>
            <a:ext cx="180978" cy="140362"/>
            <a:chOff x="3168663" y="1890707"/>
            <a:chExt cx="180978" cy="140362"/>
          </a:xfrm>
        </p:grpSpPr>
        <p:sp>
          <p:nvSpPr>
            <p:cNvPr id="68" name="양쪽 모서리가 둥근 사각형 67">
              <a:extLst>
                <a:ext uri="{FF2B5EF4-FFF2-40B4-BE49-F238E27FC236}">
                  <a16:creationId xmlns:a16="http://schemas.microsoft.com/office/drawing/2014/main" id="{03BA9521-D13E-11B1-0E8B-2BC4B907DCE7}"/>
                </a:ext>
              </a:extLst>
            </p:cNvPr>
            <p:cNvSpPr/>
            <p:nvPr/>
          </p:nvSpPr>
          <p:spPr>
            <a:xfrm rot="16200000" flipH="1">
              <a:off x="3188971" y="1870399"/>
              <a:ext cx="140362" cy="18097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1" name="직선 연결선[R] 70">
              <a:extLst>
                <a:ext uri="{FF2B5EF4-FFF2-40B4-BE49-F238E27FC236}">
                  <a16:creationId xmlns:a16="http://schemas.microsoft.com/office/drawing/2014/main" id="{34E3FF82-DEE4-1B80-8ED9-07EC42AC27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0514" y="1912930"/>
              <a:ext cx="46800" cy="468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[R] 72">
              <a:extLst>
                <a:ext uri="{FF2B5EF4-FFF2-40B4-BE49-F238E27FC236}">
                  <a16:creationId xmlns:a16="http://schemas.microsoft.com/office/drawing/2014/main" id="{4881C871-1053-D907-80B6-39A1356DD9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5914" y="1912930"/>
              <a:ext cx="46800" cy="468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[R] 73">
              <a:extLst>
                <a:ext uri="{FF2B5EF4-FFF2-40B4-BE49-F238E27FC236}">
                  <a16:creationId xmlns:a16="http://schemas.microsoft.com/office/drawing/2014/main" id="{337D469B-7943-1DEF-D6F1-EB228A6A21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3689" y="1957380"/>
              <a:ext cx="46800" cy="468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[R] 74">
              <a:extLst>
                <a:ext uri="{FF2B5EF4-FFF2-40B4-BE49-F238E27FC236}">
                  <a16:creationId xmlns:a16="http://schemas.microsoft.com/office/drawing/2014/main" id="{B58CF21D-4F5F-96E4-61FB-E2395D829D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29089" y="1957380"/>
              <a:ext cx="46800" cy="468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6219D284-4D54-67C8-6A57-C34962ACC0E6}"/>
              </a:ext>
            </a:extLst>
          </p:cNvPr>
          <p:cNvSpPr/>
          <p:nvPr/>
        </p:nvSpPr>
        <p:spPr>
          <a:xfrm>
            <a:off x="3657600" y="2031069"/>
            <a:ext cx="6412675" cy="369077"/>
          </a:xfrm>
          <a:prstGeom prst="roundRect">
            <a:avLst>
              <a:gd name="adj" fmla="val 23102"/>
            </a:avLst>
          </a:prstGeom>
          <a:solidFill>
            <a:schemeClr val="bg1"/>
          </a:solidFill>
          <a:ln>
            <a:solidFill>
              <a:srgbClr val="861F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910128D-3654-6BDA-C256-A2D9D5522C49}"/>
              </a:ext>
            </a:extLst>
          </p:cNvPr>
          <p:cNvSpPr txBox="1"/>
          <p:nvPr/>
        </p:nvSpPr>
        <p:spPr>
          <a:xfrm>
            <a:off x="3732092" y="2078185"/>
            <a:ext cx="12641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b="1">
                <a:latin typeface="Freesentation 7 Bold" pitchFamily="2" charset="-127"/>
                <a:ea typeface="Freesentation 7 Bold" pitchFamily="2" charset="-127"/>
                <a:cs typeface="Arial" panose="020B0604020202020204" pitchFamily="34" charset="0"/>
              </a:rPr>
              <a:t>교내 근로 모집 공고</a:t>
            </a:r>
          </a:p>
        </p:txBody>
      </p: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FAF705D0-19C8-9051-5A2C-E2A0F9745929}"/>
              </a:ext>
            </a:extLst>
          </p:cNvPr>
          <p:cNvSpPr/>
          <p:nvPr/>
        </p:nvSpPr>
        <p:spPr>
          <a:xfrm>
            <a:off x="3657599" y="2503500"/>
            <a:ext cx="6412675" cy="1254091"/>
          </a:xfrm>
          <a:prstGeom prst="roundRect">
            <a:avLst>
              <a:gd name="adj" fmla="val 7241"/>
            </a:avLst>
          </a:prstGeom>
          <a:solidFill>
            <a:schemeClr val="bg1"/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56985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61</Words>
  <Application>Microsoft Macintosh PowerPoint</Application>
  <PresentationFormat>와이드스크린</PresentationFormat>
  <Paragraphs>33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NanumGothic</vt:lpstr>
      <vt:lpstr>맑은 고딕</vt:lpstr>
      <vt:lpstr>Freesentation 7 Bold</vt:lpstr>
      <vt:lpstr>SOGANG UNIVERSITY TTF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현서 김</dc:creator>
  <cp:lastModifiedBy>현서 김</cp:lastModifiedBy>
  <cp:revision>3</cp:revision>
  <dcterms:created xsi:type="dcterms:W3CDTF">2026-07-06T04:48:43Z</dcterms:created>
  <dcterms:modified xsi:type="dcterms:W3CDTF">2026-07-06T05:58:35Z</dcterms:modified>
</cp:coreProperties>
</file>